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457200"/>
            <a:ext cx="45720" cy="594360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280160" cy="128016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51525"/>
                </a:solidFill>
                <a:latin typeface="Segoe UI"/>
              </a:defRPr>
            </a:pPr>
            <a:r>
              <a:t>SJ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E8B84E"/>
                </a:solidFill>
                <a:latin typeface="Segoe UI"/>
              </a:defRPr>
            </a:pPr>
            <a:r>
              <a:t>LINUX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EEEF0"/>
                </a:solidFill>
                <a:latin typeface="Segoe UI"/>
              </a:defRPr>
            </a:pPr>
            <a:r>
              <a:t>CHEATSHEET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B5"/>
                </a:solidFill>
                <a:latin typeface="Segoe UI"/>
              </a:defRPr>
            </a:pPr>
            <a:r>
              <a:t>A personal quick reference for everyday Linux administration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749039"/>
            <a:ext cx="3657600" cy="2743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4114800"/>
            <a:ext cx="548640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8B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84E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A6E6"/>
                </a:solidFill>
                <a:latin typeface="Segoe UI"/>
              </a:defRPr>
            </a:pPr>
            <a:r>
              <a:t>linkedin.com/in/samson-j-997403234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0"/>
            <a:ext cx="2560320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EC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BA0"/>
                </a:solidFill>
                <a:latin typeface="Segoe UI"/>
              </a:defRPr>
            </a:pPr>
            <a:r>
              <a:t>20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AB5"/>
                </a:solidFill>
                <a:latin typeface="Segoe UI"/>
              </a:defRPr>
            </a:pPr>
            <a:r>
              <a:t>200+ Commands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28600"/>
            <a:ext cx="11430000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E8B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B84E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84048" cy="38404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System Information &amp;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01367"/>
            <a:ext cx="384048" cy="38404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7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653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File &amp; Directory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22575"/>
            <a:ext cx="384048" cy="38404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865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Viewing &amp; Editing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4"/>
            <a:ext cx="384048" cy="38404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07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File Permissions &amp;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64991"/>
            <a:ext cx="384048" cy="38404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10711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289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User &amp; Group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199"/>
            <a:ext cx="384048" cy="384048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1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5020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Process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07408"/>
            <a:ext cx="384048" cy="384048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531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71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Text Processing &amp;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28616"/>
            <a:ext cx="384048" cy="384048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7433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Searching &amp; Finding Files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49823"/>
            <a:ext cx="384048" cy="38404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95543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138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Disk Usage &amp;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71032"/>
            <a:ext cx="384048" cy="384048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167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6035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Archiving &amp; Compression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280160"/>
            <a:ext cx="384048" cy="38404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3258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1344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Networking Commands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801367"/>
            <a:ext cx="384048" cy="38404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847087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8653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Package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322575"/>
            <a:ext cx="384048" cy="38404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36829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3865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I/O Redirection &amp; Piping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843784"/>
            <a:ext cx="384048" cy="38404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8895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2907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Shell Shortcuts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364991"/>
            <a:ext cx="384048" cy="38404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410711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34289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Cron Jobs &amp; Scheduling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886199"/>
            <a:ext cx="384048" cy="384048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93191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395020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System Management &amp; Power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407408"/>
            <a:ext cx="384048" cy="384048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4531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471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Log Management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928616"/>
            <a:ext cx="384048" cy="384048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97433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Environment Variables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449823"/>
            <a:ext cx="384048" cy="38404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495543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55138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SSH &amp; Remote Access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5971032"/>
            <a:ext cx="384048" cy="384048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60167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1525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6035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F0"/>
                </a:solidFill>
                <a:latin typeface="Segoe UI"/>
              </a:defRPr>
            </a:pPr>
            <a:r>
              <a:t>Useful Tips &amp; Combinations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System Information &amp;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uname 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all system information (kernel, version, architecture)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uname -r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kernel release 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detailed CPU architecture information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lsblk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block devices (disks, partitions)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how long the system has been running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hostname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or set the system hostname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the current date and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timedatectl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and set system date, time, timezone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 calendar for the current month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 / who / whoami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logged-in users / current username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System Information &amp; Status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user and group 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free -h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memory usage in human-readable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all environment 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lspci / lsusb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PCI / USB devices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dmidecode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hardware info from BIOS/UEFI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dmesg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Print kernel ring buffer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File &amp; Directory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 -la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files (including hidden) in long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 -lh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files with human-readable sizes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 -R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files recursively in subdirectories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pwd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Print the current working directory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cd /path / cd ~ / cd 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Change directory / home / up one level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cd 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Switch to the previous directory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mkdir dirname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new directory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mkdir -p a/b/c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nested directories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rmdir dirname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an empty directory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rm filename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 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2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File &amp; Directory Operations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rm -r dirname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 directory recursively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rm -rf dirname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Force remove without confirmation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cp source dest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Copy a file to destination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cp -r src dest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Copy a directory recursively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mv source dest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Move or rename a file/directory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touch filename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an empty file or update timestamps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ln -s target link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symbolic (soft) link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stat filename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detailed file information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tree / tree -L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directory structure in tree format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2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Viewing &amp; Editing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filename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entire file contents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-n filename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with line numbers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tac filename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file contents in reverse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less filename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page by page (scrollable)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more filename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page by page (forward only)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head filename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first 10 lines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head -n 20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first 20 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tail filename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last 10 lines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tail -n 20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last 20 lines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tail -f logfile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Follow a file in real-time (for logs)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3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Viewing &amp; Editing Files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nano filename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Open in nano text editor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vi / vim filename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Open in vi/vim text editor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3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File Permissions &amp;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755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owner=rwx, group=rx, others=rx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644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owner=rw, group=r, others=r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u+x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Add execute permission for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g+w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Add write permission for 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o-r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read permission for others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chmod -R 755 dir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Recursively set permissions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chown user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Change file owner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chown user:grp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Change owner and group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chown -R user dir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Recursively change ownership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chgrp group 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Change group ownership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4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File Permissions &amp; Ownership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umask / umask 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/ set default permission mask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4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User &amp; Group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useradd username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new user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useradd -m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user with home directory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useradd -s /bin/bash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user with specific shell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usermod -aG grp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Add user to supplementary 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usermod -L / -U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Lock / unlock a user account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userdel username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Delete a user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userdel -r 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Delete user and home directory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passwd username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Set or change user's password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groupadd / groupdel grp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/ delete a group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groups username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groups a user belongs 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5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User &amp; Group Management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su - username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Switch to another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sudo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Execute with superuser privileges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sudo -i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Open an interactive root shell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visudo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Safely edit /etc/sudoers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last / lastlog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login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5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Process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ps 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all processes in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ps -ef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all processes full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top / htop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Interactive real-time process viewer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kill PID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Terminate a process by PID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kill -9 PID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Force kill immediately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kill -15 PID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Gracefully terminate (SIGTERM)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killall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Kill all processes by name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pkill / pgrep pattern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Kill / find processes by pattern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jobs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background/suspended jobs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bg %jobid / fg %jobid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Background / foreground a job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6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Process Management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nohup command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command that persists after logout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nice -n 10 cmd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Start with modified priority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renice -n 5 PID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Change priority of running process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systemctl start svc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Start a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systemctl stop svc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Stop a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systemctl restart svc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Restart a 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systemctl status svc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Check service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systemctl enable/disable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Enable/disable at boot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6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Text Processing &amp;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pattern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Search for a pattern in a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-i pattern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Case-insensitive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-r pattern 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Recursively search in directory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-n pattern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line numbers with matches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-v pattern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lines that do NOT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grep -c pattern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Count matching lines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sed 's/old/new/g'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Replace all occurrences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sed -i 's/old/new/g'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Edit file in-place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sed -n '5,10p'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Print lines 5 through 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awk '{print $1}' 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Print first column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7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Text Processing &amp; Search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awk -F: '{print $1}'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Use ':' separator, print first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cut -d: -f1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Cut first field with ':' delimiter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sort / sort -n / sort -r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Sort alphabetically / numeric / reverse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uniq / uniq -c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duplicates / count occurrences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tr 'a-z' 'A-Z'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Translate lowercase to uppercase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wc -l / wc -w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Count lines / 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diff file1 file2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Compare two files line by 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7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Searching &amp; Finding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-name '*.txt'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files by name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-type f / -type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only files / directories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-size +100M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files larger than 100MB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-mtime 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files modified in last 7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-user username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files owned by a user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/path -perm 755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files with specific permissions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. -name '*.log' -delete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and delete matching files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. -exec cmd {} \;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Execute a command on found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locate filename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Quickly find using database index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updatedb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Update the locate database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8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Searching &amp; Finding Files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which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the full path of a 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whereis / type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Locate binary, source, man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Disk Usage &amp;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df -h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disk space human-readable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df -T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with filesystem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du -sh dirname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Total size of a directory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du -h --max-depth=1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Sizes of immediate subdirectories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du -ah 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Sizes of all files and directories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fdisk -l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disk partitions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lsblk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block devices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mount device dir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Mount a filesystem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umount dir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Unmount a filesystem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blkid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block device attributes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Disk Usage &amp; Management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mkfs.ext4 /dev/sda1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Format partition with ext4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fsck /dev/sda1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Check and repair filesystem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9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Archiving &amp; 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-cvf archive.tar 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tar archive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-xvf archive.tar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Extract a tar archive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-czvf file.tar.gz 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gzip-compressed tar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-xzvf file.tar.gz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Extract gzip-compressed tar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-cjvf file.tar.bz2 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bzip2-compressed tar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-xjvf file.tar.bz2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Extract bzip2-compressed tar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tar -tvf archive.tar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contents of tar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gzip / gunzip filename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Compress / decompress with gzip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bzip2 / bunzip2 filename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Compress / decompress with bzip2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zip archive.zip file1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zip archive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10 /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Archiving &amp; Compression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zip -r archive.zip 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Zip a directory recursively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unzip archive.zip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Extract a zip archive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xz / unxz filename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Compress / decompress with xz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10 /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Networking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ping host / ping -c 5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Test connectivity / send 5 packets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ip addr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IP addresses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ip link 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network interface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ip route show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the routing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 user@host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Connect to remote host via SSH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 -p 2222 user@host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SSH on custom 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ssh-keygen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Generate SSH key pair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ssh-copy-id user@host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Copy SSH key to remote host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scp file user@host:/path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Securely copy to remote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rsync -avz src dest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Sync files efficiently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11 /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Networking Commands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B84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curl url / curl -o file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Transfer data / download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wget url / wget -c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Download / resume download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netstat -tulnp / ss -tulnp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listening 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traceroute 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Trace route to host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nslookup / dig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DNS lookup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nmap host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Network port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11 /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Package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Update package lists (Debian/Ubuntu)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upgrade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Upgrade all installed packages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install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Install a package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remove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 package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search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Search for a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apt autoremove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unused dependencies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dpkg -i package.deb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Install a .deb package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dpkg -l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installed packages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yum install / yum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Install / update (RHEL/CentOS)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yum remove / yum 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/ search packages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12 /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Package Management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A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dnf install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Install with DNF (Fedora/RHEL 8+)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rpm -ivh package.rpm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Install an RPM package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4EC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rpm -qa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all installed RPM packages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12 /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I/O Redirection &amp; Piping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&gt;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stdout to file (overwrite)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&gt;&gt;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stdout to file (append)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2&gt;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stderr to a 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2&gt;&amp;1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stderr to stdout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&amp;&gt;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both stdout+stderr to 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&lt;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Redirect file as input to command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cmd1 | cmd2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Pipe: output of cmd1 to cmd2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| tee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Write to both screen and file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command | xargs cmd2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Use output as arguments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ps aux | grep nginx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Example: find nginx processes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13 /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I/O Redirection &amp; Piping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file | sort | uniq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Example: sort &amp; deduplicate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13 /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Shell Shortcuts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Cancel / interrupt current 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Suspend the current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Logout / send EOF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Clear the terminal screen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A / Ctrl +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Move cursor to beginning / end of 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U / Ctrl + 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Cut to beginning / end of 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Delete word before cursor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Paste previously cut 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Ctrl + 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Reverse search through history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Tab / Tab Tab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Auto-complete / show all completions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14 /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Shell Shortcuts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6E6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!!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Repeat the last 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!string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Repeat last command starting with 'string'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5B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history / history -c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/ clear command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14 / 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Cron Jobs &amp;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crontab -l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current user's cron 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crontab -e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Edit current user's cron jobs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crontab -r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all cron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* * * * *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FORMAT: min hr dom mon 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0 2 * * * command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daily at 2:00 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*/15 * * * * 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every 15 minutes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0 0 * * 0 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every Sunday at midnight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0 9 1 * * command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9 AM on 1st of every month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30 18 * * 1-5 cmd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Run 6:30 PM on weekdays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at now + 5 minutes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Schedule a one-time job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15 /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Cron Jobs &amp; Scheduling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BF5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B3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atq / atrm jobid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/ remove pending at 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15 / 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System Management &amp;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72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shutdown -h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Shut down immediately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shutdown -h +10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Shut down in 10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shutdown -r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Reboot immediately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shutdown -c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Cancel a scheduled shutdown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reboot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Reboot the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poweroff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Power off the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init 0 / init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Shutdown / Reboot (runlevel)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modprobe 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Load a kernel module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lsmod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loaded kernel modules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F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modinfo module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module information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16 / 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Log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CB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journalctl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systemd journal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journalctl -u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Logs for a specific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journalctl -f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Follow logs in real-time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journalctl --since '1 hour ago'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logs from last hour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/var/log/syslog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system log (Debian/Ubuntu)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/var/log/messages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system log (RHEL/CentOS)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/var/log/auth.log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View authentication 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tail -f /var/log/syslog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Follow syslog in real-time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6C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logrotate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Rotate and manage log files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17 / 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Environment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5B0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echo $PATH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PATH variable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echo $HOME / $USER / $SHELL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home / user / shell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export VAR=value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Set an environment variable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export PATH=$PATH:/new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Add directory to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unset 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an environment variable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source ~/.bashrc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Reload bash configuration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. ~/.bashrc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Same as source (reload config)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alias ll='ls -la'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Create a command alias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unalias 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Remove an alias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F08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env / printenv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Display all environment variables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18 / 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SSH &amp; Remote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 user@host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Connect to remote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 -p 2222 user@host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Connect on custom 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 -i key.pem user@host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Connect using private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ssh-keygen -t rsa -b 4096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Generate 4096-bit RSA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ssh-keygen -t ed25519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Generate Ed25519 key 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ssh-copy-id user@host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Copy public key to remote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ssh-agent bash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Start SSH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ssh-add ~/.ssh/id_rsa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Add private key to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sshfs user@host:/r /local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Mount remote dir via SSH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~/.ssh/config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SSH client configuration 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19 / 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SSH &amp; Remote Access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86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A8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~/.ssh/authorized_keys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Authorized public keys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19 / 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36576" cy="59436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502920" cy="502920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1525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F0"/>
                </a:solidFill>
                <a:latin typeface="Segoe UI"/>
              </a:defRPr>
            </a:pPr>
            <a:r>
              <a:t>Useful Tips &amp; Combinations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0406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8288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975E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. -name '*.log' -exec rm {} \;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81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Find and delete all .log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find . -type f | xargs grep 'text'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Search text in all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59736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615184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watch -n 5 'df -h'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328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Repeat command every 5 seconds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lsof -i :80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008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List processes using port 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10712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vmstat 1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83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Virtual memory stats (5 samples)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strace -p PID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59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Trace system calls of process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61688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cat /etc/os-release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OS distribution info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nproc / 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03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Show CPUs /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12664"/>
            <a:ext cx="11430000" cy="475488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85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echo 'text' | base64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385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Base64 encode a string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943600"/>
            <a:ext cx="73152" cy="73152"/>
          </a:xfrm>
          <a:prstGeom prst="roundRect">
            <a:avLst/>
          </a:prstGeom>
          <a:solidFill>
            <a:srgbClr val="E0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61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D5CA"/>
                </a:solidFill>
                <a:latin typeface="Cascadia Code"/>
              </a:defRPr>
            </a:pPr>
            <a:r>
              <a:t>echo 'dGV4dA==' | base64 -d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613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B5"/>
                </a:solidFill>
                <a:latin typeface="Segoe UI"/>
              </a:defRPr>
            </a:pPr>
            <a:r>
              <a:t>Base64 decode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3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Segoe UI"/>
              </a:defRPr>
            </a:pPr>
            <a:r>
              <a:t>Linux Cheatsheet  |  Samson 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70"/>
                </a:solidFill>
                <a:latin typeface="Segoe UI"/>
              </a:defRPr>
            </a:pPr>
            <a:r>
              <a:t>Category 20 / 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84E"/>
                </a:solidFill>
                <a:latin typeface="Segoe UI"/>
              </a:defRPr>
            </a:pPr>
            <a:r>
              <a:t>Permission Values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8288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A0"/>
                </a:solidFill>
                <a:latin typeface="Segoe UI"/>
              </a:defRPr>
            </a:pPr>
            <a:r>
              <a:t>Permission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Read (r)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099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B84E"/>
                </a:solidFill>
                <a:latin typeface="Segoe UI"/>
              </a:defRPr>
            </a:pPr>
            <a:r>
              <a:t>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09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View file content / list directory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Write (w)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B84E"/>
                </a:solidFill>
                <a:latin typeface="Segoe UI"/>
              </a:defRPr>
            </a:pPr>
            <a:r>
              <a:t>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Modify file / add/remove in directory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Execute 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15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B84E"/>
                </a:solidFill>
                <a:latin typeface="Segoe UI"/>
              </a:defRPr>
            </a:pPr>
            <a:r>
              <a:t>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Run file as program / access directory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72"/>
                </a:solidFill>
                <a:latin typeface="Segoe UI"/>
              </a:defRPr>
            </a:pPr>
            <a:r>
              <a:t>Common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530352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777  (rwxrwxrwx)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709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Full access for everyone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48840"/>
            <a:ext cx="530352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755  (rwxr-xr-x)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Owner full, others read+execute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51760"/>
            <a:ext cx="530352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715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644  (rw-r--r--)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Owner read+write, others read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54680"/>
            <a:ext cx="530352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700  (rwx------)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Owner full access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303520" cy="411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721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D5CA"/>
                </a:solidFill>
                <a:latin typeface="Cascadia Code"/>
              </a:defRPr>
            </a:pPr>
            <a:r>
              <a:t>600  (rw-------)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B5"/>
                </a:solidFill>
                <a:latin typeface="Segoe UI"/>
              </a:defRPr>
            </a:pPr>
            <a:r>
              <a:t>Owner read+write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38BF5"/>
                </a:solidFill>
                <a:latin typeface="Segoe UI"/>
              </a:defRPr>
            </a:pPr>
            <a:r>
              <a:t>Cron Schedule Format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97680"/>
            <a:ext cx="107899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B3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D5CA"/>
                </a:solidFill>
                <a:latin typeface="Cascadia Code"/>
              </a:defRPr>
            </a:pPr>
            <a:r>
              <a:t>* * * * *  command_to_execute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BF5"/>
                </a:solidFill>
                <a:latin typeface="Cascadia Code"/>
              </a:defRPr>
            </a:pPr>
            <a:r>
              <a:t>| | | | +---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5"/>
                </a:solidFill>
                <a:latin typeface="Segoe UI"/>
              </a:defRPr>
            </a:pPr>
            <a:r>
              <a:t>Day of Week    (0-7, Sun=0,7)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76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BF5"/>
                </a:solidFill>
                <a:latin typeface="Cascadia Code"/>
              </a:defRPr>
            </a:pPr>
            <a:r>
              <a:t>| | | +-----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2760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5"/>
                </a:solidFill>
                <a:latin typeface="Segoe UI"/>
              </a:defRPr>
            </a:pPr>
            <a:r>
              <a:t>Month          (1-12)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22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BF5"/>
                </a:solidFill>
                <a:latin typeface="Cascadia Code"/>
              </a:defRPr>
            </a:pPr>
            <a:r>
              <a:t>| | +-------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522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5"/>
                </a:solidFill>
                <a:latin typeface="Segoe UI"/>
              </a:defRPr>
            </a:pPr>
            <a:r>
              <a:t>Day of Month   (1-31)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698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BF5"/>
                </a:solidFill>
                <a:latin typeface="Cascadia Code"/>
              </a:defRPr>
            </a:pPr>
            <a:r>
              <a:t>| +---------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7698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5"/>
                </a:solidFill>
                <a:latin typeface="Segoe UI"/>
              </a:defRPr>
            </a:pPr>
            <a:r>
              <a:t>Hour           (0-23)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016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BF5"/>
                </a:solidFill>
                <a:latin typeface="Cascadia Code"/>
              </a:defRPr>
            </a:pPr>
            <a:r>
              <a:t>+-----------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6016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B5"/>
                </a:solidFill>
                <a:latin typeface="Segoe UI"/>
              </a:defRPr>
            </a:pPr>
            <a:r>
              <a:t>Minute         (0-59)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2103120" cy="2103120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51525"/>
                </a:solidFill>
                <a:latin typeface="Segoe UI"/>
              </a:defRPr>
            </a:pPr>
            <a:r>
              <a:t>SJ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B84E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206240"/>
            <a:ext cx="3017520" cy="27432"/>
          </a:xfrm>
          <a:prstGeom prst="roundRect">
            <a:avLst/>
          </a:prstGeom>
          <a:solidFill>
            <a:srgbClr val="E8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EEEF0"/>
                </a:solidFill>
                <a:latin typeface="Segoe UI"/>
              </a:defRPr>
            </a:pPr>
            <a:r>
              <a:t>Samson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A6E6"/>
                </a:solidFill>
                <a:latin typeface="Segoe UI"/>
              </a:defRPr>
            </a:pPr>
            <a:r>
              <a:t>linkedin.com/in/samson-j-997403234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AB5"/>
                </a:solidFill>
                <a:latin typeface="Segoe UI"/>
              </a:defRPr>
            </a:pPr>
            <a:r>
              <a:t>"The command line is a powerful tool -- master it and you master the machine."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